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1207"/>
            <a:ext cx="291747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512063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RECRIA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C9A24E"/>
                </a:solidFill>
                <a:latin typeface="Calibri"/>
              </a:rPr>
              <a:t>AULA GRATUITA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Por que seu marketing não funciona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e seu comercial não converte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como deveria?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 i="1">
                <a:solidFill>
                  <a:srgbClr val="E8D39A"/>
                </a:solidFill>
                <a:latin typeface="Calibri"/>
              </a:rPr>
              <a:t>Vou abrir o jogo com você: 10 anos de experiência em marketing e comercial, para te mostrar o que ninguém te mostrou até hoje. De graça, em uma única aula.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Marketing e comercial alinhados podem triplicar as suas vendas. Nessa aula você vai descobrir como.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por Amanda · Recria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ANTES DE COMEÇAR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Quem te ensina isso hoje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6400800" cy="402336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56692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C9A24E"/>
              </a:buClr>
              <a:buFont typeface="Calibri"/>
              <a:buChar char="—"/>
            </a:pPr>
            <a:r>
              <a:rPr b="1" sz="1500">
                <a:solidFill>
                  <a:srgbClr val="FFFFFF"/>
                </a:solidFill>
                <a:latin typeface="Calibri"/>
              </a:rPr>
              <a:t>Amanda,  </a:t>
            </a:r>
            <a:r>
              <a:rPr sz="1500">
                <a:solidFill>
                  <a:srgbClr val="FFFFFF"/>
                </a:solidFill>
                <a:latin typeface="Calibri"/>
              </a:rPr>
              <a:t>fundadora da Recria, agência de marketing e comercial desde 2015.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C9A24E"/>
              </a:buClr>
              <a:buFont typeface="Calibri"/>
              <a:buChar char="—"/>
            </a:pPr>
            <a:r>
              <a:rPr b="1" sz="1500">
                <a:solidFill>
                  <a:srgbClr val="FFFFFF"/>
                </a:solidFill>
                <a:latin typeface="Calibri"/>
              </a:rPr>
              <a:t>Atende  </a:t>
            </a:r>
            <a:r>
              <a:rPr sz="1500">
                <a:solidFill>
                  <a:srgbClr val="FFFFFF"/>
                </a:solidFill>
                <a:latin typeface="Calibri"/>
              </a:rPr>
              <a:t>negócios B2C e B2B, de vários tamanhos e nichos: saúde, jurídico, varejo, indústria, serviços.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C9A24E"/>
              </a:buClr>
              <a:buFont typeface="Calibri"/>
              <a:buChar char="—"/>
            </a:pPr>
            <a:r>
              <a:rPr b="1" sz="1500">
                <a:solidFill>
                  <a:srgbClr val="FFFFFF"/>
                </a:solidFill>
                <a:latin typeface="Calibri"/>
              </a:rPr>
              <a:t>Já ajudou  </a:t>
            </a:r>
            <a:r>
              <a:rPr sz="1500">
                <a:solidFill>
                  <a:srgbClr val="FFFFFF"/>
                </a:solidFill>
                <a:latin typeface="Calibri"/>
              </a:rPr>
              <a:t>marcas a saírem de R$10 mil, R$80 mil/mês, para mais de R$1 milhão/mês de faturamento.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920240"/>
            <a:ext cx="3749039" cy="4023360"/>
          </a:xfrm>
          <a:prstGeom prst="roundRect">
            <a:avLst>
              <a:gd name="adj" fmla="val 6000"/>
            </a:avLst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1945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A0A0A"/>
                </a:solidFill>
                <a:latin typeface="Calibri"/>
              </a:rPr>
              <a:t>AO FINAL DESSA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697480"/>
            <a:ext cx="32004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0A0A0A"/>
                </a:solidFill>
                <a:latin typeface="Calibri"/>
              </a:rPr>
              <a:t>Você vai entender exatamente por que seu marketing não converte em venda e o que precisa existir no seu negócio para isso mudar.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COMO FUNCIONA ESSA AULA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Isso é um aulão de marketing de verdade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9326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50" b="0" i="0">
                <a:solidFill>
                  <a:srgbClr val="E8D39A"/>
                </a:solidFill>
                <a:latin typeface="Calibri"/>
              </a:rPr>
              <a:t>Atendi negócio local, ecommerce, consultoria, mentoria, SaaS, infoproduto, indústria, de quem está começando até quem já fatura milhões. O princípio é sempre o mesmo: você vai entender exatamente o que precisa existir no seu marketing e no seu comercial para vender mais.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023360"/>
            <a:ext cx="10058400" cy="1463040"/>
          </a:xfrm>
          <a:prstGeom prst="roundRect">
            <a:avLst>
              <a:gd name="adj" fmla="val 6000"/>
            </a:avLst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480560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A0A0A"/>
                </a:solidFill>
                <a:latin typeface="Calibri"/>
              </a:rPr>
              <a:t>Fica até o final, tem um presente para você.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C9A24E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8346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Toda empresa precisa de rede social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79476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E8D39A"/>
                </a:solidFill>
                <a:latin typeface="Calibri"/>
              </a:rPr>
              <a:t>Não importa se você vende local, físico, online, ou os dois.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BLOCO 1 · NÍVEIS DE CONSCIÊNCIA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Cada pessoa que te vê está num momento diferente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2834640" cy="3840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C9A24E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22860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Não sabe que tem o problema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011680"/>
            <a:ext cx="2834640" cy="3840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2860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C9A24E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017520"/>
            <a:ext cx="22860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Sabe do problema, não conhece a solução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011680"/>
            <a:ext cx="2834640" cy="3840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C9A24E"/>
                </a:solidFill>
                <a:latin typeface="Cambr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017520"/>
            <a:ext cx="22860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Conhece a solução, não confia em você ainda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011680"/>
            <a:ext cx="2834640" cy="3840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2860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C9A24E"/>
                </a:solidFill>
                <a:latin typeface="Cambr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017520"/>
            <a:ext cx="22860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Confia em você, está pronta para comprar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103120"/>
            <a:ext cx="9601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0A0A0A"/>
                </a:solidFill>
                <a:latin typeface="Cambria"/>
              </a:rPr>
              <a:t>“Imagine sua loja numa rua escura, onde quase ninguém passa. O anúncio é levar essa loja para uma avenida movimentada, ou para dentro de um shopping cheio de gente interessada em comprar.”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C9A24E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8346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O anúncio acelera, não faz milagre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79476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E8D39A"/>
                </a:solidFill>
                <a:latin typeface="Calibri"/>
              </a:rPr>
              <a:t>Se a casa não estiver arrumada, o anúncio só leva mais gente para ver a desorganização.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C9A24E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8346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Arrumando a casa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79476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E8D39A"/>
                </a:solidFill>
                <a:latin typeface="Calibri"/>
              </a:rPr>
              <a:t>Site institucional, página de captação, ou LP de vendas direto para o checkout.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Qual presença digital faz sentido para você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402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9A24E"/>
                </a:solidFill>
                <a:latin typeface="Calibri"/>
              </a:rPr>
              <a:t>NEGÓCIO MISTO OU FÍSICO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44805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FFFFFF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Site institucional: mostra quem você é, sua história, gera confiança de marca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FFFFFF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Página de captação: formulário onde a pessoa deixa o contato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FFFFFF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Time comercial entra em contato depois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92024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2402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Calibri"/>
              </a:rPr>
              <a:t>NEGÓCIO 100%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88920"/>
            <a:ext cx="44805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0A0A0A"/>
              </a:buClr>
              <a:buFont typeface="Calibri"/>
              <a:buChar char="—"/>
            </a:pPr>
            <a:r>
              <a:rPr sz="1450">
                <a:solidFill>
                  <a:srgbClr val="0A0A0A"/>
                </a:solidFill>
                <a:latin typeface="Calibri"/>
              </a:rPr>
              <a:t>LP de vendas: explica tudo, funciona como um vendedor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0A0A0A"/>
              </a:buClr>
              <a:buFont typeface="Calibri"/>
              <a:buChar char="—"/>
            </a:pPr>
            <a:r>
              <a:rPr sz="1450">
                <a:solidFill>
                  <a:srgbClr val="0A0A0A"/>
                </a:solidFill>
                <a:latin typeface="Calibri"/>
              </a:rPr>
              <a:t>Gera atenção, desejo, oferta e fechamento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0A0A0A"/>
              </a:buClr>
              <a:buFont typeface="Calibri"/>
              <a:buChar char="—"/>
            </a:pPr>
            <a:r>
              <a:rPr sz="1450">
                <a:solidFill>
                  <a:srgbClr val="0A0A0A"/>
                </a:solidFill>
                <a:latin typeface="Calibri"/>
              </a:rPr>
              <a:t>Leva direto para o checkout (ex: Hotmart)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C9A24E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8346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Treinar o comercial para agir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79476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E8D39A"/>
                </a:solidFill>
                <a:latin typeface="Calibri"/>
              </a:rPr>
              <a:t>A casa está arrumada. Agora alguém precisa saber atender quem chega.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BLOCO 4 · VELOCIDADE E PERSISTÊNCIA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Atender rápido não é suficiente, atender persistente é o que fecha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9A24E"/>
                </a:solidFill>
                <a:latin typeface="Calibri"/>
              </a:rPr>
              <a:t>VELOCIDADE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44805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C9A24E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Lead entrou, comercial recebe notificação e atende o mais rápido possível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C9A24E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Ressalva combinada: lead de sexta à noite ou fim de semana, atende na segunda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01168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A0A0A"/>
                </a:solidFill>
                <a:latin typeface="Calibri"/>
              </a:rPr>
              <a:t>PERSISTÊNCIA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88920"/>
            <a:ext cx="44805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0A0A0A"/>
              </a:buClr>
              <a:buFont typeface="Calibri"/>
              <a:buChar char="—"/>
            </a:pPr>
            <a:r>
              <a:rPr sz="1450">
                <a:solidFill>
                  <a:srgbClr val="0A0A0A"/>
                </a:solidFill>
                <a:latin typeface="Calibri"/>
              </a:rPr>
              <a:t>Mínimo 5 tentativas de contato antes de marcar como desqualificado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0A0A0A"/>
              </a:buClr>
              <a:buFont typeface="Calibri"/>
              <a:buChar char="—"/>
            </a:pPr>
            <a:r>
              <a:rPr sz="1450">
                <a:solidFill>
                  <a:srgbClr val="0A0A0A"/>
                </a:solidFill>
                <a:latin typeface="Calibri"/>
              </a:rPr>
              <a:t>Canais diferentes: WhatsApp, Instagram e e-mail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0A0A0A"/>
              </a:buClr>
              <a:buFont typeface="Calibri"/>
              <a:buChar char="—"/>
            </a:pPr>
            <a:r>
              <a:rPr sz="1450">
                <a:solidFill>
                  <a:srgbClr val="0A0A0A"/>
                </a:solidFill>
                <a:latin typeface="Calibri"/>
              </a:rPr>
              <a:t>Facilitar o pagamento: parcelado, Pix, boleto, cartão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C9A24E"/>
                </a:solidFill>
                <a:latin typeface="Cambr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8346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Cada canal de anúncio funciona diferente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79476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E8D39A"/>
                </a:solidFill>
                <a:latin typeface="Calibri"/>
              </a:rPr>
              <a:t>Google é intenção. Instagram é atenção.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Por que o custo do lead muda de canal para canal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402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9A24E"/>
                </a:solidFill>
                <a:latin typeface="Calibri"/>
              </a:rPr>
              <a:t>GOOGLE · INTENÇÃO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44805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FFFFFF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“Furei o pneu no meio da rua, vou direto no Google buscar borracharia”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FFFFFF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Lead mais perto da decisão, mais fundo de funil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FFFFFF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Por isso tende a ser mais caro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92024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2402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9A24E"/>
                </a:solidFill>
                <a:latin typeface="Calibri"/>
              </a:rPr>
              <a:t>INSTAGRAM ·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88920"/>
            <a:ext cx="44805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FFFFFF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Ninguém entra na rede social querendo comprar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FFFFFF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O anúncio rouba a atenção em um momento de distração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FFFFFF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Jornada mais longa, por isso o lead tende a ser mais barato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BLOCO 5 · EXEMPLOS DE ANÚNCIO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6B6B6B"/>
                </a:solidFill>
                <a:latin typeface="Calibri"/>
              </a:rPr>
              <a:t>[Inserir exemplos de anúncios aqui]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BLOCO 5 · A JORNADA NO INSTAGRAM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Nem todo mundo que vê o anúncio decide igual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875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2400"/>
              </a:spcAft>
              <a:buClr>
                <a:srgbClr val="C9A24E"/>
              </a:buClr>
              <a:buFont typeface="Calibri"/>
              <a:buChar char="—"/>
            </a:pPr>
            <a:r>
              <a:rPr b="1" sz="1700">
                <a:solidFill>
                  <a:srgbClr val="FFFFFF"/>
                </a:solidFill>
                <a:latin typeface="Calibri"/>
              </a:rPr>
              <a:t>Compra na hora  </a:t>
            </a:r>
            <a:r>
              <a:rPr sz="1700">
                <a:solidFill>
                  <a:srgbClr val="FFFFFF"/>
                </a:solidFill>
                <a:latin typeface="Calibri"/>
              </a:rPr>
              <a:t>decide e fecha no mesmo momento que vê o anúncio.</a:t>
            </a:r>
          </a:p>
          <a:p>
            <a:pPr marL="228600" indent="-228600">
              <a:lnSpc>
                <a:spcPct val="120000"/>
              </a:lnSpc>
              <a:spcAft>
                <a:spcPts val="2400"/>
              </a:spcAft>
              <a:buClr>
                <a:srgbClr val="C9A24E"/>
              </a:buClr>
              <a:buFont typeface="Calibri"/>
              <a:buChar char="—"/>
            </a:pPr>
            <a:r>
              <a:rPr b="1" sz="1700">
                <a:solidFill>
                  <a:srgbClr val="FFFFFF"/>
                </a:solidFill>
                <a:latin typeface="Calibri"/>
              </a:rPr>
              <a:t>Se conecta, compra depois  </a:t>
            </a:r>
            <a:r>
              <a:rPr sz="1700">
                <a:solidFill>
                  <a:srgbClr val="FFFFFF"/>
                </a:solidFill>
                <a:latin typeface="Calibri"/>
              </a:rPr>
              <a:t>segue o perfil, acompanha um pouco, e fecha mais adiante.</a:t>
            </a:r>
          </a:p>
          <a:p>
            <a:pPr marL="228600" indent="-228600">
              <a:lnSpc>
                <a:spcPct val="120000"/>
              </a:lnSpc>
              <a:spcAft>
                <a:spcPts val="2400"/>
              </a:spcAft>
              <a:buClr>
                <a:srgbClr val="C9A24E"/>
              </a:buClr>
              <a:buFont typeface="Calibri"/>
              <a:buChar char="—"/>
            </a:pPr>
            <a:r>
              <a:rPr b="1" sz="1700">
                <a:solidFill>
                  <a:srgbClr val="FFFFFF"/>
                </a:solidFill>
                <a:latin typeface="Calibri"/>
              </a:rPr>
              <a:t>Acompanha meses sem comprar  </a:t>
            </a:r>
            <a:r>
              <a:rPr sz="1700">
                <a:solidFill>
                  <a:srgbClr val="FFFFFF"/>
                </a:solidFill>
                <a:latin typeface="Calibri"/>
              </a:rPr>
              <a:t>fica de olho por um bom tempo, sem decidir, mas pode comprar um dia.</a:t>
            </a:r>
          </a:p>
          <a:p>
            <a:pPr marL="228600" indent="-228600">
              <a:lnSpc>
                <a:spcPct val="120000"/>
              </a:lnSpc>
              <a:spcAft>
                <a:spcPts val="2400"/>
              </a:spcAft>
              <a:buClr>
                <a:srgbClr val="C9A24E"/>
              </a:buClr>
              <a:buFont typeface="Calibri"/>
              <a:buChar char="—"/>
            </a:pPr>
            <a:r>
              <a:rPr b="1" sz="1700">
                <a:solidFill>
                  <a:srgbClr val="FFFFFF"/>
                </a:solidFill>
                <a:latin typeface="Calibri"/>
              </a:rPr>
              <a:t>Ignora  </a:t>
            </a:r>
            <a:r>
              <a:rPr sz="1700">
                <a:solidFill>
                  <a:srgbClr val="FFFFFF"/>
                </a:solidFill>
                <a:latin typeface="Calibri"/>
              </a:rPr>
              <a:t>passa direto, não se conecta com a oferta.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C9A24E"/>
                </a:solidFill>
                <a:latin typeface="Cambri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8346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O fluxo completo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79476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E8D39A"/>
                </a:solidFill>
                <a:latin typeface="Calibri"/>
              </a:rPr>
              <a:t>Do anúncio até o follow-up proativo.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BLOCO 6 · O CAMINHO DO LEAD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Mesmo sem resposta, você não perde o contato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2915107"/>
            <a:ext cx="8961120" cy="21945"/>
          </a:xfrm>
          <a:prstGeom prst="rect">
            <a:avLst/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0" y="2263140"/>
            <a:ext cx="2560320" cy="269748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9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0100" y="2537460"/>
            <a:ext cx="777240" cy="77724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38862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Anúncio no Instagram</a:t>
            </a:r>
          </a:p>
        </p:txBody>
      </p:sp>
      <p:sp>
        <p:nvSpPr>
          <p:cNvPr id="8" name="Oval 7"/>
          <p:cNvSpPr/>
          <p:nvPr/>
        </p:nvSpPr>
        <p:spPr>
          <a:xfrm>
            <a:off x="3040380" y="2537460"/>
            <a:ext cx="777240" cy="77724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8862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Página com formulário</a:t>
            </a:r>
          </a:p>
        </p:txBody>
      </p:sp>
      <p:sp>
        <p:nvSpPr>
          <p:cNvPr id="10" name="Oval 9"/>
          <p:cNvSpPr/>
          <p:nvPr/>
        </p:nvSpPr>
        <p:spPr>
          <a:xfrm>
            <a:off x="5280660" y="2537460"/>
            <a:ext cx="777240" cy="77724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8862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Dados capturados</a:t>
            </a:r>
          </a:p>
        </p:txBody>
      </p:sp>
      <p:sp>
        <p:nvSpPr>
          <p:cNvPr id="12" name="Oval 11"/>
          <p:cNvSpPr/>
          <p:nvPr/>
        </p:nvSpPr>
        <p:spPr>
          <a:xfrm>
            <a:off x="7520940" y="2537460"/>
            <a:ext cx="777240" cy="77724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8862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Redireciona para o WhatsApp</a:t>
            </a:r>
          </a:p>
        </p:txBody>
      </p:sp>
      <p:sp>
        <p:nvSpPr>
          <p:cNvPr id="14" name="Oval 13"/>
          <p:cNvSpPr/>
          <p:nvPr/>
        </p:nvSpPr>
        <p:spPr>
          <a:xfrm>
            <a:off x="9761220" y="2537460"/>
            <a:ext cx="777240" cy="777240"/>
          </a:xfrm>
          <a:prstGeom prst="ellipse">
            <a:avLst/>
          </a:prstGeom>
          <a:solidFill>
            <a:srgbClr val="C9A24E"/>
          </a:solidFill>
          <a:ln w="19050">
            <a:solidFill>
              <a:srgbClr val="C9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0A0A0A"/>
                </a:solidFill>
                <a:latin typeface="Cambri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38862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C9A24E"/>
                </a:solidFill>
                <a:latin typeface="Calibri"/>
              </a:rPr>
              <a:t>Follow-up proativo, 5+ tentativas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BLOCO 6 · NA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Nem toda jornada até a venda é igual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10058400" cy="196596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031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9A24E"/>
                </a:solidFill>
                <a:latin typeface="Calibri"/>
              </a:rPr>
              <a:t>JORNADA LINEAR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14600"/>
            <a:ext cx="9418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Vê o anúncio → conhece na rede social → clica → preenche o formulário na página → vê o botão do WhatsApp → comercial atende (pelo WhatsApp ou pelos dados do formulário) → venda.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10058400" cy="2286000"/>
          </a:xfrm>
          <a:prstGeom prst="roundRect">
            <a:avLst>
              <a:gd name="adj" fmla="val 6000"/>
            </a:avLst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2519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0A0A"/>
                </a:solidFill>
                <a:latin typeface="Calibri"/>
              </a:rPr>
              <a:t>JORNADA NÃO 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663440"/>
            <a:ext cx="9418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Calibri"/>
              </a:rPr>
              <a:t>Vê o anúncio, mas em vez de deixar o dado, segue a rede social. Pesquisa no Google, compara, some, volta semanas depois. Pode comprar de cara e voltar a comprar, ou comprar só depois de acompanhar por um tempo, e ainda indicar para outra pessoa.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103120"/>
            <a:ext cx="9601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0A0A0A"/>
                </a:solidFill>
                <a:latin typeface="Cambria"/>
              </a:rPr>
              <a:t>“É por isso que, às vezes, um anúncio demora um pouco mais ou um pouco menos para dar resultado.”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C9A24E"/>
                </a:solidFill>
                <a:latin typeface="Cambria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8346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Marketing não vende, comercial vende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79476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E8D39A"/>
                </a:solidFill>
                <a:latin typeface="Calibri"/>
              </a:rPr>
              <a:t>Pare de culpar o marketing por uma venda perdida.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103120"/>
            <a:ext cx="9601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0A0A0A"/>
                </a:solidFill>
                <a:latin typeface="Cambria"/>
              </a:rPr>
              <a:t>“O trabalho do marketing é levar o lead o mais próximo possível de estar interessado. Quem quebra a objeção e converte é o comercial.”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6634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0A0A0A"/>
                </a:solidFill>
                <a:latin typeface="Calibri"/>
              </a:rPr>
              <a:t>Se o comercial não sabe fazer follow-up nem facilitar o pagamento, nem o melhor marketing do mundo resolve.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C9A24E"/>
                </a:solidFill>
                <a:latin typeface="Cambria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8346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Automação amarrando 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79476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E8D39A"/>
                </a:solidFill>
                <a:latin typeface="Calibri"/>
              </a:rPr>
              <a:t>Conecta as pontas sem depender de alguém checar planilha o dia inteiro.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BLOCO 8 · TEMPERATURA DO LEAD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Nem todo lead está no mesmo estágio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383280" cy="3840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C9A24E"/>
                </a:solidFill>
                <a:latin typeface="Cambria"/>
              </a:rPr>
              <a:t>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17520"/>
            <a:ext cx="27432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Alguém que demonstrou interesse e deixou um dado de contato.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83280" cy="3840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3317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C9A24E"/>
                </a:solidFill>
                <a:latin typeface="Cambria"/>
              </a:rPr>
              <a:t>MQL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017520"/>
            <a:ext cx="27432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Tomou uma ação real (baixou material, assistiu até o fim), mas ainda não validado pelo comercial.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3383280" cy="3840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3317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C9A24E"/>
                </a:solidFill>
                <a:latin typeface="Cambria"/>
              </a:rPr>
              <a:t>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017520"/>
            <a:ext cx="27432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Validado pelo comercial: tem perfil, orçamento e momento para comprar.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C9A24E"/>
                </a:solidFill>
                <a:latin typeface="Cambria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8346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O ciclo de venda muda com o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79476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E8D39A"/>
                </a:solidFill>
                <a:latin typeface="Calibri"/>
              </a:rPr>
              <a:t>Quanto mais caro o produto, mais esforço dos dois lados.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BLOCO 9 · TICKET BAIXO, MÉDIO E ALTO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O mesmo princípio em qualquer tipo de negócio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337560" cy="420624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9A24E"/>
                </a:solidFill>
                <a:latin typeface="Calibri"/>
              </a:rPr>
              <a:t>TICKET BAIXO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06040"/>
            <a:ext cx="28803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FFFFFF"/>
              </a:buClr>
              <a:buFont typeface="Calibri"/>
              <a:buChar char="—"/>
            </a:pPr>
            <a:r>
              <a:rPr b="1" sz="1200">
                <a:solidFill>
                  <a:srgbClr val="FFFFFF"/>
                </a:solidFill>
                <a:latin typeface="Calibri"/>
              </a:rPr>
              <a:t>Infoproduto  </a:t>
            </a:r>
            <a:r>
              <a:rPr sz="1200">
                <a:solidFill>
                  <a:srgbClr val="FFFFFF"/>
                </a:solidFill>
                <a:latin typeface="Calibri"/>
              </a:rPr>
              <a:t>Ebook ou mini-curso de R$27 a R$97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FFFFFF"/>
              </a:buClr>
              <a:buFont typeface="Calibri"/>
              <a:buChar char="—"/>
            </a:pPr>
            <a:r>
              <a:rPr b="1" sz="1200">
                <a:solidFill>
                  <a:srgbClr val="FFFFFF"/>
                </a:solidFill>
                <a:latin typeface="Calibri"/>
              </a:rPr>
              <a:t>Produto físico  </a:t>
            </a:r>
            <a:r>
              <a:rPr sz="1200">
                <a:solidFill>
                  <a:srgbClr val="FFFFFF"/>
                </a:solidFill>
                <a:latin typeface="Calibri"/>
              </a:rPr>
              <a:t>Item de loja, oferta do dia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FFFFFF"/>
              </a:buClr>
              <a:buFont typeface="Calibri"/>
              <a:buChar char="—"/>
            </a:pPr>
            <a:r>
              <a:rPr b="1" sz="1200">
                <a:solidFill>
                  <a:srgbClr val="FFFFFF"/>
                </a:solidFill>
                <a:latin typeface="Calibri"/>
              </a:rPr>
              <a:t>Consultoria/serviço  </a:t>
            </a:r>
            <a:r>
              <a:rPr sz="1200">
                <a:solidFill>
                  <a:srgbClr val="FFFFFF"/>
                </a:solidFill>
                <a:latin typeface="Calibri"/>
              </a:rPr>
              <a:t>Sessão avulsa, ajuste pontual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80060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FFFFFF"/>
                </a:solidFill>
                <a:latin typeface="Calibri"/>
              </a:rPr>
              <a:t>Decisão quase instantânea, pouco esforço de marketing e comercial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337560" cy="420624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9A24E"/>
                </a:solidFill>
                <a:latin typeface="Calibri"/>
              </a:rPr>
              <a:t>TICKET MÉDIO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28803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FFFFFF"/>
              </a:buClr>
              <a:buFont typeface="Calibri"/>
              <a:buChar char="—"/>
            </a:pPr>
            <a:r>
              <a:rPr b="1" sz="1200">
                <a:solidFill>
                  <a:srgbClr val="FFFFFF"/>
                </a:solidFill>
                <a:latin typeface="Calibri"/>
              </a:rPr>
              <a:t>Infoproduto  </a:t>
            </a:r>
            <a:r>
              <a:rPr sz="1200">
                <a:solidFill>
                  <a:srgbClr val="FFFFFF"/>
                </a:solidFill>
                <a:latin typeface="Calibri"/>
              </a:rPr>
              <a:t>Curso completo de R$300 a R$1.500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FFFFFF"/>
              </a:buClr>
              <a:buFont typeface="Calibri"/>
              <a:buChar char="—"/>
            </a:pPr>
            <a:r>
              <a:rPr b="1" sz="1200">
                <a:solidFill>
                  <a:srgbClr val="FFFFFF"/>
                </a:solidFill>
                <a:latin typeface="Calibri"/>
              </a:rPr>
              <a:t>Produto físico  </a:t>
            </a:r>
            <a:r>
              <a:rPr sz="1200">
                <a:solidFill>
                  <a:srgbClr val="FFFFFF"/>
                </a:solidFill>
                <a:latin typeface="Calibri"/>
              </a:rPr>
              <a:t>Equipamento, mobília, eletrônico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FFFFFF"/>
              </a:buClr>
              <a:buFont typeface="Calibri"/>
              <a:buChar char="—"/>
            </a:pPr>
            <a:r>
              <a:rPr b="1" sz="1200">
                <a:solidFill>
                  <a:srgbClr val="FFFFFF"/>
                </a:solidFill>
                <a:latin typeface="Calibri"/>
              </a:rPr>
              <a:t>Consultoria/serviço  </a:t>
            </a:r>
            <a:r>
              <a:rPr sz="1200">
                <a:solidFill>
                  <a:srgbClr val="FFFFFF"/>
                </a:solidFill>
                <a:latin typeface="Calibri"/>
              </a:rPr>
              <a:t>Pacote mensal, projeto fechado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80060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FFFFFF"/>
                </a:solidFill>
                <a:latin typeface="Calibri"/>
              </a:rPr>
              <a:t>Precisa de mais prova social e algumas etapas de confiança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920240"/>
            <a:ext cx="3337560" cy="4206240"/>
          </a:xfrm>
          <a:prstGeom prst="roundRect">
            <a:avLst>
              <a:gd name="adj" fmla="val 6000"/>
            </a:avLst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14884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A0A0A"/>
                </a:solidFill>
                <a:latin typeface="Calibri"/>
              </a:rPr>
              <a:t>TICKET ALTO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06040"/>
            <a:ext cx="28803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0A0A0A"/>
              </a:buClr>
              <a:buFont typeface="Calibri"/>
              <a:buChar char="—"/>
            </a:pPr>
            <a:r>
              <a:rPr b="1" sz="1200">
                <a:solidFill>
                  <a:srgbClr val="0A0A0A"/>
                </a:solidFill>
                <a:latin typeface="Calibri"/>
              </a:rPr>
              <a:t>Infoproduto  </a:t>
            </a:r>
            <a:r>
              <a:rPr sz="1200">
                <a:solidFill>
                  <a:srgbClr val="0A0A0A"/>
                </a:solidFill>
                <a:latin typeface="Calibri"/>
              </a:rPr>
              <a:t>Mentoria de R$5 mil ou mais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0A0A0A"/>
              </a:buClr>
              <a:buFont typeface="Calibri"/>
              <a:buChar char="—"/>
            </a:pPr>
            <a:r>
              <a:rPr b="1" sz="1200">
                <a:solidFill>
                  <a:srgbClr val="0A0A0A"/>
                </a:solidFill>
                <a:latin typeface="Calibri"/>
              </a:rPr>
              <a:t>Produto físico  </a:t>
            </a:r>
            <a:r>
              <a:rPr sz="1200">
                <a:solidFill>
                  <a:srgbClr val="0A0A0A"/>
                </a:solidFill>
                <a:latin typeface="Calibri"/>
              </a:rPr>
              <a:t>Imóvel, carro, maquinário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0A0A0A"/>
              </a:buClr>
              <a:buFont typeface="Calibri"/>
              <a:buChar char="—"/>
            </a:pPr>
            <a:r>
              <a:rPr b="1" sz="1200">
                <a:solidFill>
                  <a:srgbClr val="0A0A0A"/>
                </a:solidFill>
                <a:latin typeface="Calibri"/>
              </a:rPr>
              <a:t>Consultoria/serviço  </a:t>
            </a:r>
            <a:r>
              <a:rPr sz="1200">
                <a:solidFill>
                  <a:srgbClr val="0A0A0A"/>
                </a:solidFill>
                <a:latin typeface="Calibri"/>
              </a:rPr>
              <a:t>Consultoria estratégica de longo prazo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80060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0A0A0A"/>
                </a:solidFill>
                <a:latin typeface="Calibri"/>
              </a:rPr>
              <a:t>Mais esforço dos dois lados: jornada longa, prova social forte, comercial próximo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Dois exemplos, dois esforços diferentes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402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9A24E"/>
                </a:solidFill>
                <a:latin typeface="Calibri"/>
              </a:rPr>
              <a:t>TICKET BAIXO · CICLO CURTO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44805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FFFFFF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Exemplo: oferta de carne no mercado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FFFFFF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Vê o anúncio, entra no grupo de oferta no WhatsApp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FFFFFF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Ou só vê o anúncio e vai comprar na promoção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FFFFFF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Decisão quase instantânea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92024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2402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Calibri"/>
              </a:rPr>
              <a:t>TICKET ALTO · CICLO LONGO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88920"/>
            <a:ext cx="44805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0A0A0A"/>
              </a:buClr>
              <a:buFont typeface="Calibri"/>
              <a:buChar char="—"/>
            </a:pPr>
            <a:r>
              <a:rPr sz="1450">
                <a:solidFill>
                  <a:srgbClr val="0A0A0A"/>
                </a:solidFill>
                <a:latin typeface="Calibri"/>
              </a:rPr>
              <a:t>Exemplo: mentoria de R$5 mil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0A0A0A"/>
              </a:buClr>
              <a:buFont typeface="Calibri"/>
              <a:buChar char="—"/>
            </a:pPr>
            <a:r>
              <a:rPr sz="1450">
                <a:solidFill>
                  <a:srgbClr val="0A0A0A"/>
                </a:solidFill>
                <a:latin typeface="Calibri"/>
              </a:rPr>
              <a:t>LP bem feita, comercial chama com atenção total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0A0A0A"/>
              </a:buClr>
              <a:buFont typeface="Calibri"/>
              <a:buChar char="—"/>
            </a:pPr>
            <a:r>
              <a:rPr sz="1450">
                <a:solidFill>
                  <a:srgbClr val="0A0A0A"/>
                </a:solidFill>
                <a:latin typeface="Calibri"/>
              </a:rPr>
              <a:t>Gera proximidade, autoridade, mostra prova social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0A0A0A"/>
              </a:buClr>
              <a:buFont typeface="Calibri"/>
              <a:buChar char="—"/>
            </a:pPr>
            <a:r>
              <a:rPr sz="1450">
                <a:solidFill>
                  <a:srgbClr val="0A0A0A"/>
                </a:solidFill>
                <a:latin typeface="Calibri"/>
              </a:rPr>
              <a:t>Facilita: parcelado, boleto, Pix, cartão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103120"/>
            <a:ext cx="9601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0A0A0A"/>
                </a:solidFill>
                <a:latin typeface="Cambria"/>
              </a:rPr>
              <a:t>“Se você nunca tinha pensado em nada disso antes, não se cobre por isso. Ninguém te ensinou. É exatamente por isso que você está aqui agora.”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ANTES DAS PROVAS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A linha do tempo de um negócio que funciona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2686507"/>
            <a:ext cx="8887968" cy="21945"/>
          </a:xfrm>
          <a:prstGeom prst="rect">
            <a:avLst/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" y="2414016"/>
            <a:ext cx="566928" cy="566928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Ideia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49039"/>
            <a:ext cx="1463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E8D39A"/>
                </a:solidFill>
                <a:latin typeface="Calibri"/>
              </a:rPr>
              <a:t>Negócio é idealizado</a:t>
            </a:r>
          </a:p>
        </p:txBody>
      </p:sp>
      <p:sp>
        <p:nvSpPr>
          <p:cNvPr id="8" name="Oval 7"/>
          <p:cNvSpPr/>
          <p:nvPr/>
        </p:nvSpPr>
        <p:spPr>
          <a:xfrm>
            <a:off x="2432304" y="2414016"/>
            <a:ext cx="566928" cy="566928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324612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Nasce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4248" y="3749039"/>
            <a:ext cx="1463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E8D39A"/>
                </a:solidFill>
                <a:latin typeface="Calibri"/>
              </a:rPr>
              <a:t>Negócio é aberto</a:t>
            </a:r>
          </a:p>
        </p:txBody>
      </p:sp>
      <p:sp>
        <p:nvSpPr>
          <p:cNvPr id="11" name="Oval 10"/>
          <p:cNvSpPr/>
          <p:nvPr/>
        </p:nvSpPr>
        <p:spPr>
          <a:xfrm>
            <a:off x="3913632" y="2414016"/>
            <a:ext cx="566928" cy="566928"/>
          </a:xfrm>
          <a:prstGeom prst="ellipse">
            <a:avLst/>
          </a:prstGeom>
          <a:solidFill>
            <a:srgbClr val="C9A24E"/>
          </a:solidFill>
          <a:ln w="19050">
            <a:solidFill>
              <a:srgbClr val="C9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A0A0A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324612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C9A24E"/>
                </a:solidFill>
                <a:latin typeface="Calibri"/>
              </a:rPr>
              <a:t>Marketing entra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6" y="3749039"/>
            <a:ext cx="1463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E8D39A"/>
                </a:solidFill>
                <a:latin typeface="Calibri"/>
              </a:rPr>
              <a:t>Atrai atenção certa</a:t>
            </a:r>
          </a:p>
        </p:txBody>
      </p:sp>
      <p:sp>
        <p:nvSpPr>
          <p:cNvPr id="14" name="Oval 13"/>
          <p:cNvSpPr/>
          <p:nvPr/>
        </p:nvSpPr>
        <p:spPr>
          <a:xfrm>
            <a:off x="5394960" y="2414016"/>
            <a:ext cx="566928" cy="566928"/>
          </a:xfrm>
          <a:prstGeom prst="ellipse">
            <a:avLst/>
          </a:prstGeom>
          <a:solidFill>
            <a:srgbClr val="C9A24E"/>
          </a:solidFill>
          <a:ln w="19050">
            <a:solidFill>
              <a:srgbClr val="C9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A0A0A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324612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C9A24E"/>
                </a:solidFill>
                <a:latin typeface="Calibri"/>
              </a:rPr>
              <a:t>Comercial entra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6904" y="3749039"/>
            <a:ext cx="1463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E8D39A"/>
                </a:solidFill>
                <a:latin typeface="Calibri"/>
              </a:rPr>
              <a:t>Conduz até o sim</a:t>
            </a:r>
          </a:p>
        </p:txBody>
      </p:sp>
      <p:sp>
        <p:nvSpPr>
          <p:cNvPr id="17" name="Oval 16"/>
          <p:cNvSpPr/>
          <p:nvPr/>
        </p:nvSpPr>
        <p:spPr>
          <a:xfrm>
            <a:off x="6876288" y="2414016"/>
            <a:ext cx="566928" cy="566928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24612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Lead → Cliente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749039"/>
            <a:ext cx="1463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E8D39A"/>
                </a:solidFill>
                <a:latin typeface="Calibri"/>
              </a:rPr>
              <a:t>Marketing e comercial se conectam</a:t>
            </a:r>
          </a:p>
        </p:txBody>
      </p:sp>
      <p:sp>
        <p:nvSpPr>
          <p:cNvPr id="20" name="Oval 19"/>
          <p:cNvSpPr/>
          <p:nvPr/>
        </p:nvSpPr>
        <p:spPr>
          <a:xfrm>
            <a:off x="8357616" y="2414016"/>
            <a:ext cx="566928" cy="566928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24612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Cliente recorrente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749039"/>
            <a:ext cx="1463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E8D39A"/>
                </a:solidFill>
                <a:latin typeface="Calibri"/>
              </a:rPr>
              <a:t>Compra de novo</a:t>
            </a:r>
          </a:p>
        </p:txBody>
      </p:sp>
      <p:sp>
        <p:nvSpPr>
          <p:cNvPr id="23" name="Oval 22"/>
          <p:cNvSpPr/>
          <p:nvPr/>
        </p:nvSpPr>
        <p:spPr>
          <a:xfrm>
            <a:off x="9838944" y="2414016"/>
            <a:ext cx="566928" cy="566928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324612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Indicação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8" y="3749039"/>
            <a:ext cx="1463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E8D39A"/>
                </a:solidFill>
                <a:latin typeface="Calibri"/>
              </a:rPr>
              <a:t>Cliente traz outro cliente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ANTES DAS PROVAS · DADOS DE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Quando marketing e comercial andam juntos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3291840" cy="356616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C9A24E"/>
                </a:solidFill>
                <a:latin typeface="Cambria"/>
              </a:rPr>
              <a:t>+20%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2743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de crescimento de receita em empresas com marketing e comercial alinhados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03120"/>
            <a:ext cx="3291840" cy="356616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237744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C9A24E"/>
                </a:solidFill>
                <a:latin typeface="Cambria"/>
              </a:rPr>
              <a:t>+67%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3383280"/>
            <a:ext cx="2743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mais eficiência em fechar negócios quando os dois times trabalham integrados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356616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37744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C9A24E"/>
                </a:solidFill>
                <a:latin typeface="Cambria"/>
              </a:rPr>
              <a:t>até 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383280"/>
            <a:ext cx="2743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de aumento no lucro com apenas 5% de aumento na retenção de clientes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6B6B6B"/>
                </a:solidFill>
                <a:latin typeface="Calibri"/>
              </a:rPr>
              <a:t>Dados ilustrativos de estudos de mercado amplamente citados sobre alinhamento entre marketing e vendas (ex.: SiriusDecisions, Aberdeen, Bain &amp; Co.) — confirme as fontes antes de citar números exatos publicamente.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C9A24E"/>
                </a:solidFill>
                <a:latin typeface="Cambria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8346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Provas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79476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E8D39A"/>
                </a:solidFill>
                <a:latin typeface="Calibri"/>
              </a:rPr>
              <a:t>Dois negócios, dois pontos de partida, o mesmo princípio.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CASE 1 · SUPLEMENTO ALIMENTAR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Cliente que já existia, mas nunca foi ativado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6126480" cy="402336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945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9A24E"/>
                </a:solidFill>
                <a:latin typeface="Calibri"/>
              </a:rPr>
              <a:t>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51760"/>
            <a:ext cx="5486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Empresa com quase 5 anos, sem CRM funcionando. Ninguém conseguia ativar a base de clientes.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Foi feito: estudo fino do público, comunicação personalizada, WhatsApp e e-mail alternando conteúdo educativo e promoção.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920240"/>
            <a:ext cx="4160520" cy="4023360"/>
          </a:xfrm>
          <a:prstGeom prst="roundRect">
            <a:avLst>
              <a:gd name="adj" fmla="val 6000"/>
            </a:avLst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21945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A0A0A"/>
                </a:solidFill>
                <a:latin typeface="Calibri"/>
              </a:rPr>
              <a:t>RESULTADO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6517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A0A0A"/>
                </a:solidFill>
                <a:latin typeface="Cambria"/>
              </a:rPr>
              <a:t>R$200 mil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2461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0A0A0A"/>
                </a:solidFill>
                <a:latin typeface="Calibri"/>
              </a:rPr>
              <a:t>1º mês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65760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A0A0A"/>
                </a:solidFill>
                <a:latin typeface="Cambria"/>
              </a:rPr>
              <a:t>R$400 mil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2519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0A0A0A"/>
                </a:solidFill>
                <a:latin typeface="Calibri"/>
              </a:rPr>
              <a:t>2º mês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66344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0A0A0A"/>
                </a:solidFill>
                <a:latin typeface="Cambria"/>
              </a:rPr>
              <a:t>R$500 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257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0A0A0A"/>
                </a:solidFill>
                <a:latin typeface="Calibri"/>
              </a:rPr>
              <a:t>3º mês · sem tráfego pago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CASE 2 · PORTAS DE ENROLAR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De negócio local a expansão regional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6126480" cy="402336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945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9A24E"/>
                </a:solidFill>
                <a:latin typeface="Calibri"/>
              </a:rPr>
              <a:t>O QUE FOI FEITO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54864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C9A24E"/>
              </a:buClr>
              <a:buFont typeface="Calibri"/>
              <a:buChar char="—"/>
            </a:pPr>
            <a:r>
              <a:rPr sz="1350">
                <a:solidFill>
                  <a:srgbClr val="FFFFFF"/>
                </a:solidFill>
                <a:latin typeface="Calibri"/>
              </a:rPr>
              <a:t>Páginas diferentes para cada público (cliente final x intermediador)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C9A24E"/>
              </a:buClr>
              <a:buFont typeface="Calibri"/>
              <a:buChar char="—"/>
            </a:pPr>
            <a:r>
              <a:rPr sz="1350">
                <a:solidFill>
                  <a:srgbClr val="FFFFFF"/>
                </a:solidFill>
                <a:latin typeface="Calibri"/>
              </a:rPr>
              <a:t>Clube de parceria e indicação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C9A24E"/>
              </a:buClr>
              <a:buFont typeface="Calibri"/>
              <a:buChar char="—"/>
            </a:pPr>
            <a:r>
              <a:rPr sz="1350">
                <a:solidFill>
                  <a:srgbClr val="FFFFFF"/>
                </a:solidFill>
                <a:latin typeface="Calibri"/>
              </a:rPr>
              <a:t>Ajuste de anúncios em Google e Meta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C9A24E"/>
              </a:buClr>
              <a:buFont typeface="Calibri"/>
              <a:buChar char="—"/>
            </a:pPr>
            <a:r>
              <a:rPr sz="1350">
                <a:solidFill>
                  <a:srgbClr val="FFFFFF"/>
                </a:solidFill>
                <a:latin typeface="Calibri"/>
              </a:rPr>
              <a:t>Resposta comercial em até 1 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920240"/>
            <a:ext cx="4160520" cy="4023360"/>
          </a:xfrm>
          <a:prstGeom prst="roundRect">
            <a:avLst>
              <a:gd name="adj" fmla="val 6000"/>
            </a:avLst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21945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A0A0A"/>
                </a:solidFill>
                <a:latin typeface="Calibri"/>
              </a:rPr>
              <a:t>EVOLUÇÃO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60604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A0A0A"/>
                </a:solidFill>
                <a:latin typeface="Calibri"/>
              </a:rPr>
              <a:t>R$80 mil/mês → R$500 mil/mês em 4 meses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24612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0A0A"/>
                </a:solidFill>
                <a:latin typeface="Calibri"/>
              </a:rPr>
              <a:t>1º milhão em 10 meses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79476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0A0A"/>
                </a:solidFill>
                <a:latin typeface="Calibri"/>
              </a:rPr>
              <a:t>R$1,3 milhão aos 12 meses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34340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0A0A0A"/>
                </a:solidFill>
                <a:latin typeface="Calibri"/>
              </a:rPr>
              <a:t>2º milhão em 1 ano e meio. Hoje expandindo para Santa Catarina.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103120"/>
            <a:ext cx="9601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0A0A0A"/>
                </a:solidFill>
                <a:latin typeface="Cambria"/>
              </a:rPr>
              <a:t>“Todo negócio, sem exceção, precisa de marketing bom e comercial afiado para crescer de verdade.”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6634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0A0A0A"/>
                </a:solidFill>
                <a:latin typeface="Calibri"/>
              </a:rPr>
              <a:t>Hotel, loja, ecommerce, salão, curso, consultoria, universidade, mentoria, até curso de meditação para dormir. O foco muda, o princípio não.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O RESUMÃO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Tudo que você viu até aqui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1400"/>
              </a:spcAft>
              <a:buClr>
                <a:srgbClr val="C9A24E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Rede social com funil aplicado (consciência)</a:t>
            </a:r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Clr>
                <a:srgbClr val="C9A24E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Anúncio acelera, não faz milagre</a:t>
            </a:r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Clr>
                <a:srgbClr val="C9A24E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Casa arrumada: site institucional ou LP</a:t>
            </a:r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Clr>
                <a:srgbClr val="C9A24E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Comercial treinado: velocidade, follow-up, pagamento facilitado</a:t>
            </a:r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Clr>
                <a:srgbClr val="C9A24E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Canal certo para o seu negócio: Google x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92024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1400"/>
              </a:spcAft>
              <a:buClr>
                <a:srgbClr val="C9A24E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Fluxo completo amarrado, do anúncio ao follow-up</a:t>
            </a:r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Clr>
                <a:srgbClr val="C9A24E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Marketing leva até a venda, comercial fecha a venda</a:t>
            </a:r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Clr>
                <a:srgbClr val="C9A24E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Automação conectando tudo</a:t>
            </a:r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Clr>
                <a:srgbClr val="C9A24E"/>
              </a:buClr>
              <a:buFont typeface="Calibri"/>
              <a:buChar char="—"/>
            </a:pPr>
            <a:r>
              <a:rPr sz="1450">
                <a:solidFill>
                  <a:srgbClr val="FFFFFF"/>
                </a:solidFill>
                <a:latin typeface="Calibri"/>
              </a:rPr>
              <a:t>Esforço proporcional ao ticket do seu produto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98932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6144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A0A0A"/>
                </a:solidFill>
                <a:latin typeface="Calibri"/>
              </a:rPr>
              <a:t>Baixe o material de apoio com esse resumo abaixo do vídeo.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VOCÊ CHEGOU ATÉ AQUI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Parabéns por chegar até aqui! Aqui está o seu primeiro presente!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E8D39A"/>
                </a:solidFill>
                <a:latin typeface="Calibri"/>
              </a:rPr>
              <a:t>Nessa mesma página tem um botão para você baixar, totalmente grátis, o material de apoio em PDF: para lembrar de tudo e já começar a aplicar no dia a dia, conferindo como está o seu negócio.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9692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 se você quiser o meu apoio, minha ajuda para estruturar ou reestruturar o seu marketing e o seu comercial, tenho mais um presente para você.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BLOCO 11 · SEU PRESENTE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Um diagnóstico gratuito, dois caminhos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10058400" cy="356616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4231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9A24E"/>
                </a:solidFill>
                <a:latin typeface="Calibri"/>
              </a:rPr>
              <a:t>DIAGNÓSTICO GRATUITO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93268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Você pode começar já com um diagnóstico gratuito seguido do Pacote Inicial (R$1.500/mês), onde eu entrego tudo que você precisa para começar agora no seu negócio, condição válida só nessa página. Ou pode aplicar para uma Sessão Estratégica comigo: eu entendo o cenário do seu negócio e te entrego o diagnóstico de qualquer maneira, você decide depois se faz sentido fechar ou não com a minha agência.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BLOCO 11 · SEUS DOIS CAMINHOS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Dois convites para você agora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94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A0A0A"/>
                </a:solidFill>
                <a:latin typeface="Calibri"/>
              </a:rPr>
              <a:t>CAMINHO MAIS RÁPIDO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A0A0A"/>
                </a:solidFill>
                <a:latin typeface="Calibri"/>
              </a:rPr>
              <a:t>PACOTE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9718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A0A0A"/>
                </a:solidFill>
                <a:latin typeface="Cambria"/>
              </a:rPr>
              <a:t>R$1.500/mês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11880"/>
            <a:ext cx="44805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700"/>
              </a:spcAft>
              <a:buClr>
                <a:srgbClr val="0A0A0A"/>
              </a:buClr>
              <a:buFont typeface="Calibri"/>
              <a:buChar char="—"/>
            </a:pPr>
            <a:r>
              <a:rPr b="1" sz="1200">
                <a:solidFill>
                  <a:srgbClr val="0A0A0A"/>
                </a:solidFill>
                <a:latin typeface="Calibri"/>
              </a:rPr>
              <a:t>Tráfego pago:  </a:t>
            </a:r>
            <a:r>
              <a:rPr sz="1200">
                <a:solidFill>
                  <a:srgbClr val="0A0A0A"/>
                </a:solidFill>
                <a:latin typeface="Calibri"/>
              </a:rPr>
              <a:t>anúncios no Google e no Instagram</a:t>
            </a:r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Clr>
                <a:srgbClr val="0A0A0A"/>
              </a:buClr>
              <a:buFont typeface="Calibri"/>
              <a:buChar char="—"/>
            </a:pPr>
            <a:r>
              <a:rPr b="1" sz="1200">
                <a:solidFill>
                  <a:srgbClr val="0A0A0A"/>
                </a:solidFill>
                <a:latin typeface="Calibri"/>
              </a:rPr>
              <a:t>Social media:  </a:t>
            </a:r>
            <a:r>
              <a:rPr sz="1200">
                <a:solidFill>
                  <a:srgbClr val="0A0A0A"/>
                </a:solidFill>
                <a:latin typeface="Calibri"/>
              </a:rPr>
              <a:t>criação de conteúdo nas redes sociais</a:t>
            </a:r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Clr>
                <a:srgbClr val="0A0A0A"/>
              </a:buClr>
              <a:buFont typeface="Calibri"/>
              <a:buChar char="—"/>
            </a:pPr>
            <a:r>
              <a:rPr b="1" sz="1200">
                <a:solidFill>
                  <a:srgbClr val="0A0A0A"/>
                </a:solidFill>
                <a:latin typeface="Calibri"/>
              </a:rPr>
              <a:t>Site:  </a:t>
            </a:r>
            <a:r>
              <a:rPr sz="1200">
                <a:solidFill>
                  <a:srgbClr val="0A0A0A"/>
                </a:solidFill>
                <a:latin typeface="Calibri"/>
              </a:rPr>
              <a:t>captação de potenciais clientes com automação que avisa o time comercial</a:t>
            </a:r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Clr>
                <a:srgbClr val="0A0A0A"/>
              </a:buClr>
              <a:buFont typeface="Calibri"/>
              <a:buChar char="—"/>
            </a:pPr>
            <a:r>
              <a:rPr b="1" sz="1200">
                <a:solidFill>
                  <a:srgbClr val="0A0A0A"/>
                </a:solidFill>
                <a:latin typeface="Calibri"/>
              </a:rPr>
              <a:t>Treinamento comercial:  </a:t>
            </a:r>
            <a:r>
              <a:rPr sz="1200">
                <a:solidFill>
                  <a:srgbClr val="0A0A0A"/>
                </a:solidFill>
                <a:latin typeface="Calibri"/>
              </a:rPr>
              <a:t>para o seu time não perder mais venda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2024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CAMINHO MAIS DEVAGAR, COM CAUTELA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SESSÃO ESTRATÉGICA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Aplicação, vagas limitadas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657600"/>
            <a:ext cx="44805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Não é uma reunião de vendas, é um diagnóstico que eu mesma farei para o seu negócio. O diagnóstico é seu de qualquer forma, fechando ou não algum serviço com a minha agência. Você sai sabendo onde está, para onde quer ir e quais são os gargalos. Você só tem a ganhar.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BLOCO 11 · O CAMINHO QUE CUSTA CARO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Ou você pode continuar tentando sozinho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10058400" cy="33832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9326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Clr>
                <a:srgbClr val="C9A24E"/>
              </a:buClr>
              <a:buFont typeface="Calibri"/>
              <a:buChar char="—"/>
            </a:pPr>
            <a:r>
              <a:rPr sz="1800">
                <a:solidFill>
                  <a:srgbClr val="FFFFFF"/>
                </a:solidFill>
                <a:latin typeface="Calibri"/>
              </a:rPr>
              <a:t>Gastando sem direção</a:t>
            </a:r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Clr>
                <a:srgbClr val="C9A24E"/>
              </a:buClr>
              <a:buFont typeface="Calibri"/>
              <a:buChar char="—"/>
            </a:pPr>
            <a:r>
              <a:rPr sz="1800">
                <a:solidFill>
                  <a:srgbClr val="FFFFFF"/>
                </a:solidFill>
                <a:latin typeface="Calibri"/>
              </a:rPr>
              <a:t>Perdendo venda para concorrente</a:t>
            </a:r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Clr>
                <a:srgbClr val="C9A24E"/>
              </a:buClr>
              <a:buFont typeface="Calibri"/>
              <a:buChar char="—"/>
            </a:pPr>
            <a:r>
              <a:rPr sz="1800">
                <a:solidFill>
                  <a:srgbClr val="FFFFFF"/>
                </a:solidFill>
                <a:latin typeface="Calibri"/>
              </a:rPr>
              <a:t>Correndo o risco de chegar até a falência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1206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1">
                <a:solidFill>
                  <a:srgbClr val="E8D39A"/>
                </a:solidFill>
                <a:latin typeface="Calibri"/>
              </a:rPr>
              <a:t>Negócio nenhum cresce sem marketing e comercial alinhados, independente do que você vende.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1207"/>
            <a:ext cx="291747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512063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RECRIA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Qual caminho você escolhe agora?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474720"/>
            <a:ext cx="4754880" cy="1554480"/>
          </a:xfrm>
          <a:prstGeom prst="roundRect">
            <a:avLst>
              <a:gd name="adj" fmla="val 6000"/>
            </a:avLst>
          </a:prstGeom>
          <a:solidFill>
            <a:srgbClr val="C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438912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900" b="1" i="0">
                <a:solidFill>
                  <a:srgbClr val="0A0A0A"/>
                </a:solidFill>
                <a:latin typeface="Calibri"/>
              </a:rPr>
              <a:t>Quero o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900" b="1" i="0">
                <a:solidFill>
                  <a:srgbClr val="0A0A0A"/>
                </a:solidFill>
                <a:latin typeface="Calibri"/>
              </a:rPr>
              <a:t>Pacote Inicial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3474720"/>
            <a:ext cx="4754880" cy="1554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9525">
            <a:solidFill>
              <a:srgbClr val="C9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474720"/>
            <a:ext cx="438912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C9A24E"/>
                </a:solidFill>
                <a:latin typeface="Calibri"/>
              </a:rPr>
              <a:t>Quero aplicar para a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C9A24E"/>
                </a:solidFill>
                <a:latin typeface="Calibri"/>
              </a:rPr>
              <a:t>Sessão Estratégica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B6B6B"/>
                </a:solidFill>
                <a:latin typeface="Calibri"/>
              </a:rPr>
              <a:t>Os botões estão na página abaixo do vídeo.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1207"/>
            <a:ext cx="291747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512063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A24E"/>
                </a:solidFill>
                <a:latin typeface="Calibri"/>
              </a:rPr>
              <a:t>RECRIA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Obrigada!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E8D39A"/>
                </a:solidFill>
                <a:latin typeface="Calibri"/>
              </a:rPr>
              <a:t>por chegar até aqui comigo.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